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" d="100"/>
          <a:sy n="10" d="100"/>
        </p:scale>
        <p:origin x="1356" y="10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2AC93-7F84-574D-9726-3CEE60B58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D1BE25-B456-16E7-DF39-2D506FFF5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81BD80-FB0C-2430-4D6C-EED3B1F0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8737-613C-4005-9DBA-3BFAE7BE8F2A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9A8C99-1AA6-80A2-2D30-77B3DE90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AC86FA-A8B1-DEAE-4032-F608125B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F5B96-52E5-486B-91C6-B9784255F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301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0136D-108C-B5FF-EDFE-2907CEF5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DBD944-4E84-FD37-DEF1-602B64537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A08487-D751-6AA6-575A-D79ABCF5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8737-613C-4005-9DBA-3BFAE7BE8F2A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03EC3E-3B06-7B4B-3F28-A2A863D7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D1F6A2-6217-9DA3-33DF-5D2432D1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F5B96-52E5-486B-91C6-B9784255F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4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16389-E301-38DF-6093-302B66E1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A3FA41-CDEC-FF4B-2156-0486CE6D9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366C78-B3A7-CD29-56F4-75084D45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8737-613C-4005-9DBA-3BFAE7BE8F2A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E3EB08-3B40-0FE9-028A-7614925D9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95F614-6178-D835-12E2-EAC6426D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F5B96-52E5-486B-91C6-B9784255F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84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91594-1ED8-E689-93E4-E37EFE948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DF0532-F809-0658-AB8F-CA5C7492C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987DD6-7E68-C2E8-46A8-98913765C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98CF34-C968-73DE-6787-FBC537E5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8737-613C-4005-9DBA-3BFAE7BE8F2A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2058BD-105A-5B5C-43BE-AE8BBDD3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98FC3F-61D2-66A8-AA70-BE299A7C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F5B96-52E5-486B-91C6-B9784255F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006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03825-B088-455E-E4AA-7E4BC5C5F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DE602D-7398-1868-656B-91788441D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21A27F-7BCC-98E1-C571-7A45DDA6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6811E3-B063-B0E5-52C2-F04B11D1EC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4C959F-1D95-88AD-C6ED-5A9F62C39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A7428D-8D11-ADB9-535F-6C40BC9D3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8737-613C-4005-9DBA-3BFAE7BE8F2A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46064D-BEF5-A057-D006-D95C3071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729BA27-36B0-B4F3-14FB-6CB1869B3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F5B96-52E5-486B-91C6-B9784255F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97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C486-F489-D50D-E439-FD4B67473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DA19B7-9E5C-3223-C2CB-9432DAF08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8737-613C-4005-9DBA-3BFAE7BE8F2A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0C51C4-D7E5-9E7F-5E6D-90EE41492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4C8377-50C8-BA91-09A7-443C41B93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F5B96-52E5-486B-91C6-B9784255F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415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DA40B8-8B33-5A8F-73E4-094DFD60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8737-613C-4005-9DBA-3BFAE7BE8F2A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F9D13C-C6E0-33C2-29DE-C30986D2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3F7AD5-8E1E-7E73-C1EB-BA97CFB75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F5B96-52E5-486B-91C6-B9784255F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05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53F6C-71B9-A7D6-9395-C3E4067CA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BACBA7-61A7-BCBD-3332-B8CE80067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B2FE61-CF29-E478-655D-5BCE7CD77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B73216-F33C-B750-1EA9-B7A3661D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8737-613C-4005-9DBA-3BFAE7BE8F2A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16A5F1-4BCD-BDEF-3BB5-28B3802B1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28A5BA-CE7B-19F1-BCB6-BB52F03D9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F5B96-52E5-486B-91C6-B9784255F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34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EA3EB3-7DD9-827F-A8E8-A9D677122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92E2F4-3DC2-6B95-5379-DF2068AA15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AA3262-EBDC-3A31-F038-237A85503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F64833-54F3-9849-4DC3-D30A3F301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8737-613C-4005-9DBA-3BFAE7BE8F2A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B05B42-2EEB-FF28-A81C-4CED6EFAE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CC18A8-97D0-A53C-A4B0-B6DF23A9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F5B96-52E5-486B-91C6-B9784255F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58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D2B18-D341-7572-E9B2-3BBF863C4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8A7A3F-B9BB-E716-30F6-BF1A8644D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1AB6DB-07FD-C2E5-FBF5-263B6181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8737-613C-4005-9DBA-3BFAE7BE8F2A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598E1C-14D0-0EBF-E570-CBB8074E1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CC58FB-474A-E101-3A90-4E1BA505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F5B96-52E5-486B-91C6-B9784255F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77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766493-E3CF-2FF4-5675-BA25B28E1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725BF9-A70D-8377-73E0-88C6F5EFE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3533DE-8600-2788-2FE9-14DF9A6F7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F8737-613C-4005-9DBA-3BFAE7BE8F2A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DBF399-8BC4-1142-F692-E5F177E5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1ED30-4B5F-16C6-D84A-D4CD11FEC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F5B96-52E5-486B-91C6-B9784255F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39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8EDD9B-BA8C-E45C-6CFC-AB5CEF2A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765C7E-D16E-18A5-9BA3-9FDDB18D1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EDA7B-9563-6E43-A177-5F7DB466BB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F8737-613C-4005-9DBA-3BFAE7BE8F2A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3B9D9C-E88D-32D4-AE1D-FA2F98451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4545F5-5FF4-37FF-930A-4542B05B1E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F5B96-52E5-486B-91C6-B9784255F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8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.png"/><Relationship Id="rId18" Type="http://schemas.openxmlformats.org/officeDocument/2006/relationships/image" Target="../media/image17.png"/><Relationship Id="rId3" Type="http://schemas.openxmlformats.org/officeDocument/2006/relationships/image" Target="../media/image9.png"/><Relationship Id="rId21" Type="http://schemas.openxmlformats.org/officeDocument/2006/relationships/image" Target="../media/image20.png"/><Relationship Id="rId7" Type="http://schemas.openxmlformats.org/officeDocument/2006/relationships/image" Target="../media/image2.png"/><Relationship Id="rId12" Type="http://schemas.openxmlformats.org/officeDocument/2006/relationships/image" Target="../media/image4.png"/><Relationship Id="rId17" Type="http://schemas.openxmlformats.org/officeDocument/2006/relationships/image" Target="../media/image16.png"/><Relationship Id="rId2" Type="http://schemas.openxmlformats.org/officeDocument/2006/relationships/image" Target="../media/image8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7.png"/><Relationship Id="rId5" Type="http://schemas.openxmlformats.org/officeDocument/2006/relationships/image" Target="../media/image11.png"/><Relationship Id="rId15" Type="http://schemas.openxmlformats.org/officeDocument/2006/relationships/image" Target="../media/image14.png"/><Relationship Id="rId10" Type="http://schemas.openxmlformats.org/officeDocument/2006/relationships/image" Target="../media/image6.png"/><Relationship Id="rId19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5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ECD1933-EAC8-B40F-9135-9077A7D63583}"/>
              </a:ext>
            </a:extLst>
          </p:cNvPr>
          <p:cNvSpPr/>
          <p:nvPr/>
        </p:nvSpPr>
        <p:spPr>
          <a:xfrm>
            <a:off x="483928" y="6367870"/>
            <a:ext cx="11836589" cy="2976488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90B76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90303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187AE54-6021-E9F1-F812-894CC4055775}"/>
              </a:ext>
            </a:extLst>
          </p:cNvPr>
          <p:cNvSpPr/>
          <p:nvPr/>
        </p:nvSpPr>
        <p:spPr>
          <a:xfrm>
            <a:off x="-926529" y="1802177"/>
            <a:ext cx="14657506" cy="2976488"/>
          </a:xfrm>
          <a:prstGeom prst="roundRect">
            <a:avLst/>
          </a:prstGeom>
          <a:solidFill>
            <a:srgbClr val="FEE8DB"/>
          </a:solidFill>
          <a:ln w="19050">
            <a:solidFill>
              <a:srgbClr val="F7CECC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90303" pitchFamily="18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7BBF4F8-8E0A-434B-BC5D-4DA2A6AE4831}"/>
              </a:ext>
            </a:extLst>
          </p:cNvPr>
          <p:cNvSpPr/>
          <p:nvPr/>
        </p:nvSpPr>
        <p:spPr>
          <a:xfrm>
            <a:off x="2155567" y="-2281245"/>
            <a:ext cx="8493315" cy="2693013"/>
          </a:xfrm>
          <a:prstGeom prst="roundRect">
            <a:avLst/>
          </a:prstGeom>
          <a:solidFill>
            <a:srgbClr val="FFEBB2"/>
          </a:solidFill>
          <a:ln w="19050">
            <a:solidFill>
              <a:srgbClr val="FFE38E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90303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C8ADFE-8F23-397A-7AC1-F6502D291D59}"/>
              </a:ext>
            </a:extLst>
          </p:cNvPr>
          <p:cNvSpPr txBox="1"/>
          <p:nvPr/>
        </p:nvSpPr>
        <p:spPr>
          <a:xfrm>
            <a:off x="4517169" y="-336406"/>
            <a:ext cx="3997167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Protection Method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2FBF6AD-4E60-847C-994A-F01A7B8C3A30}"/>
              </a:ext>
            </a:extLst>
          </p:cNvPr>
          <p:cNvSpPr txBox="1"/>
          <p:nvPr/>
        </p:nvSpPr>
        <p:spPr>
          <a:xfrm>
            <a:off x="-294781" y="3903150"/>
            <a:ext cx="2690371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Landmark Age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517A279-F0AC-1772-C821-BAFAFF16490C}"/>
              </a:ext>
            </a:extLst>
          </p:cNvPr>
          <p:cNvSpPr txBox="1"/>
          <p:nvPr/>
        </p:nvSpPr>
        <p:spPr>
          <a:xfrm>
            <a:off x="6369086" y="3911284"/>
            <a:ext cx="3487995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Number of Visitors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E576E8-FDDE-2D40-4863-050881D1EEB7}"/>
              </a:ext>
            </a:extLst>
          </p:cNvPr>
          <p:cNvSpPr txBox="1"/>
          <p:nvPr/>
        </p:nvSpPr>
        <p:spPr>
          <a:xfrm>
            <a:off x="10217878" y="3894106"/>
            <a:ext cx="2910542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Protection Costs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80F97B-2F46-5B5B-9DE6-C55A07788FCB}"/>
              </a:ext>
            </a:extLst>
          </p:cNvPr>
          <p:cNvSpPr txBox="1"/>
          <p:nvPr/>
        </p:nvSpPr>
        <p:spPr>
          <a:xfrm>
            <a:off x="2943566" y="3903965"/>
            <a:ext cx="2690373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Landmark Size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AED969-EF6C-04FB-068F-C081C8222677}"/>
              </a:ext>
            </a:extLst>
          </p:cNvPr>
          <p:cNvSpPr txBox="1"/>
          <p:nvPr/>
        </p:nvSpPr>
        <p:spPr>
          <a:xfrm>
            <a:off x="2092396" y="8610886"/>
            <a:ext cx="3337176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On-Site Protection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71A200-4C4E-B1EE-3620-0F635BD5C5A8}"/>
              </a:ext>
            </a:extLst>
          </p:cNvPr>
          <p:cNvSpPr txBox="1"/>
          <p:nvPr/>
        </p:nvSpPr>
        <p:spPr>
          <a:xfrm>
            <a:off x="7281633" y="8610886"/>
            <a:ext cx="3852291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Relocation Protection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E4855F8-93D8-90D2-A491-2B5889A695B6}"/>
              </a:ext>
            </a:extLst>
          </p:cNvPr>
          <p:cNvSpPr txBox="1"/>
          <p:nvPr/>
        </p:nvSpPr>
        <p:spPr>
          <a:xfrm>
            <a:off x="4172514" y="6300645"/>
            <a:ext cx="422423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accent6">
                    <a:lumMod val="75000"/>
                  </a:schemeClr>
                </a:solidFill>
                <a:latin typeface="Georgia" panose="02040502050405090303" pitchFamily="18" charset="0"/>
              </a:rPr>
              <a:t>Solution Layer</a:t>
            </a:r>
            <a:endParaRPr lang="zh-CN" altLang="en-US" sz="3150" b="1" dirty="0">
              <a:solidFill>
                <a:schemeClr val="accent6">
                  <a:lumMod val="75000"/>
                </a:schemeClr>
              </a:solidFill>
              <a:latin typeface="Georgia" panose="02040502050405090303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50A2CF-C7DA-851A-5085-7D9048777001}"/>
              </a:ext>
            </a:extLst>
          </p:cNvPr>
          <p:cNvSpPr txBox="1"/>
          <p:nvPr/>
        </p:nvSpPr>
        <p:spPr>
          <a:xfrm>
            <a:off x="4863014" y="-2366623"/>
            <a:ext cx="307619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accent4">
                    <a:lumMod val="75000"/>
                  </a:schemeClr>
                </a:solidFill>
                <a:latin typeface="Georgia" panose="02040502050405090303" pitchFamily="18" charset="0"/>
              </a:rPr>
              <a:t>Target Layer</a:t>
            </a:r>
            <a:endParaRPr lang="zh-CN" altLang="en-US" sz="3150" b="1" dirty="0">
              <a:solidFill>
                <a:schemeClr val="accent4">
                  <a:lumMod val="75000"/>
                </a:schemeClr>
              </a:solidFill>
              <a:latin typeface="Georgia" panose="02040502050405090303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C8ACA36-A657-0108-A360-842D0A16E534}"/>
              </a:ext>
            </a:extLst>
          </p:cNvPr>
          <p:cNvSpPr txBox="1"/>
          <p:nvPr/>
        </p:nvSpPr>
        <p:spPr>
          <a:xfrm>
            <a:off x="4107425" y="1738249"/>
            <a:ext cx="44936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rgbClr val="BD6426"/>
                </a:solidFill>
                <a:latin typeface="Georgia" panose="02040502050405090303" pitchFamily="18" charset="0"/>
              </a:rPr>
              <a:t>Criteria Layer</a:t>
            </a:r>
            <a:endParaRPr lang="zh-CN" altLang="en-US" sz="3150" b="1" dirty="0">
              <a:solidFill>
                <a:srgbClr val="BD6426"/>
              </a:solidFill>
              <a:latin typeface="Georgia" panose="02040502050405090303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1E064D-A9BC-72DA-4459-635AC920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4828" y="2342596"/>
            <a:ext cx="1413847" cy="141384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177E5C5-81AA-F24D-61DA-703450D982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5" r="5043"/>
          <a:stretch>
            <a:fillRect/>
          </a:stretch>
        </p:blipFill>
        <p:spPr>
          <a:xfrm>
            <a:off x="7180926" y="2428237"/>
            <a:ext cx="1771721" cy="163772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52BFE3D-60A5-5D8E-B78F-6FC4FA51C8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290" y="-1527113"/>
            <a:ext cx="1275638" cy="127563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A9BBB2C-3724-4E2B-EE2C-29A4B5BBAC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09" y="2411572"/>
            <a:ext cx="1435943" cy="143594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07B9E8C-16D0-4D86-652F-1CD8DD0DC0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108" y="2236205"/>
            <a:ext cx="1664563" cy="166456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543698E-1456-0567-B252-37A55A0D80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249" y="7034346"/>
            <a:ext cx="1442083" cy="144208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3C8A2F2-FD52-40D2-8707-B5A27A0E86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456" y="6858000"/>
            <a:ext cx="1817490" cy="1817490"/>
          </a:xfrm>
          <a:prstGeom prst="rect">
            <a:avLst/>
          </a:prstGeom>
        </p:spPr>
      </p:pic>
      <p:cxnSp>
        <p:nvCxnSpPr>
          <p:cNvPr id="24" name="连接符: 曲线 23">
            <a:extLst>
              <a:ext uri="{FF2B5EF4-FFF2-40B4-BE49-F238E27FC236}">
                <a16:creationId xmlns:a16="http://schemas.microsoft.com/office/drawing/2014/main" id="{E64D047C-DEA2-DC0E-A62B-8D06DE3A135F}"/>
              </a:ext>
            </a:extLst>
          </p:cNvPr>
          <p:cNvCxnSpPr>
            <a:stCxn id="6" idx="2"/>
            <a:endCxn id="20" idx="0"/>
          </p:cNvCxnSpPr>
          <p:nvPr/>
        </p:nvCxnSpPr>
        <p:spPr>
          <a:xfrm rot="5400000">
            <a:off x="2794402" y="-1196252"/>
            <a:ext cx="1999804" cy="5215844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prstDash val="sysDash"/>
            <a:headEnd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84B3EA0E-E7F8-32C9-2B4D-5811A5A934F1}"/>
              </a:ext>
            </a:extLst>
          </p:cNvPr>
          <p:cNvCxnSpPr>
            <a:stCxn id="6" idx="2"/>
            <a:endCxn id="17" idx="0"/>
          </p:cNvCxnSpPr>
          <p:nvPr/>
        </p:nvCxnSpPr>
        <p:spPr>
          <a:xfrm rot="16200000" flipH="1">
            <a:off x="8076574" y="-1262583"/>
            <a:ext cx="1930827" cy="5279529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prstDash val="sysDash"/>
            <a:headEnd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曲线 25">
            <a:extLst>
              <a:ext uri="{FF2B5EF4-FFF2-40B4-BE49-F238E27FC236}">
                <a16:creationId xmlns:a16="http://schemas.microsoft.com/office/drawing/2014/main" id="{CCD32FF5-075F-A6C8-E93F-6EEE08AAFF71}"/>
              </a:ext>
            </a:extLst>
          </p:cNvPr>
          <p:cNvCxnSpPr>
            <a:stCxn id="6" idx="2"/>
            <a:endCxn id="18" idx="0"/>
          </p:cNvCxnSpPr>
          <p:nvPr/>
        </p:nvCxnSpPr>
        <p:spPr>
          <a:xfrm rot="16200000" flipH="1">
            <a:off x="6226266" y="587724"/>
            <a:ext cx="2016472" cy="1664561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prstDash val="sysDash"/>
            <a:headEnd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曲线 26">
            <a:extLst>
              <a:ext uri="{FF2B5EF4-FFF2-40B4-BE49-F238E27FC236}">
                <a16:creationId xmlns:a16="http://schemas.microsoft.com/office/drawing/2014/main" id="{CC81F9D5-F651-EAF1-F335-61D301A3C0F3}"/>
              </a:ext>
            </a:extLst>
          </p:cNvPr>
          <p:cNvCxnSpPr>
            <a:stCxn id="6" idx="2"/>
            <a:endCxn id="21" idx="0"/>
          </p:cNvCxnSpPr>
          <p:nvPr/>
        </p:nvCxnSpPr>
        <p:spPr>
          <a:xfrm rot="5400000">
            <a:off x="4487591" y="321568"/>
            <a:ext cx="1824433" cy="2004836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50000"/>
              </a:schemeClr>
            </a:solidFill>
            <a:prstDash val="sysDash"/>
            <a:headEnd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75364D2C-8A45-5D0D-2FE1-D6E45F769364}"/>
              </a:ext>
            </a:extLst>
          </p:cNvPr>
          <p:cNvCxnSpPr>
            <a:stCxn id="8" idx="2"/>
            <a:endCxn id="22" idx="0"/>
          </p:cNvCxnSpPr>
          <p:nvPr/>
        </p:nvCxnSpPr>
        <p:spPr>
          <a:xfrm rot="16200000" flipH="1">
            <a:off x="1024962" y="4445015"/>
            <a:ext cx="2614773" cy="2563886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D2A42826-3C20-5C37-A74C-1C2516283FCC}"/>
              </a:ext>
            </a:extLst>
          </p:cNvPr>
          <p:cNvCxnSpPr>
            <a:stCxn id="8" idx="2"/>
            <a:endCxn id="23" idx="0"/>
          </p:cNvCxnSpPr>
          <p:nvPr/>
        </p:nvCxnSpPr>
        <p:spPr>
          <a:xfrm rot="16200000" flipH="1">
            <a:off x="3944088" y="1525888"/>
            <a:ext cx="2438428" cy="8225797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7C6BF09E-5DE6-05DF-E8F2-A41F1AE7978A}"/>
              </a:ext>
            </a:extLst>
          </p:cNvPr>
          <p:cNvCxnSpPr>
            <a:stCxn id="11" idx="2"/>
            <a:endCxn id="22" idx="0"/>
          </p:cNvCxnSpPr>
          <p:nvPr/>
        </p:nvCxnSpPr>
        <p:spPr>
          <a:xfrm rot="5400000">
            <a:off x="2644542" y="5390135"/>
            <a:ext cx="2613958" cy="674462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E81BDBA8-D032-4F55-5C73-D60BE05556EB}"/>
              </a:ext>
            </a:extLst>
          </p:cNvPr>
          <p:cNvCxnSpPr>
            <a:stCxn id="11" idx="2"/>
            <a:endCxn id="23" idx="0"/>
          </p:cNvCxnSpPr>
          <p:nvPr/>
        </p:nvCxnSpPr>
        <p:spPr>
          <a:xfrm rot="16200000" flipH="1">
            <a:off x="5563671" y="3145469"/>
            <a:ext cx="2437613" cy="4987449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F071CED4-B4B9-0DC1-9736-1546ACD2D04C}"/>
              </a:ext>
            </a:extLst>
          </p:cNvPr>
          <p:cNvCxnSpPr>
            <a:stCxn id="9" idx="2"/>
            <a:endCxn id="22" idx="0"/>
          </p:cNvCxnSpPr>
          <p:nvPr/>
        </p:nvCxnSpPr>
        <p:spPr>
          <a:xfrm rot="5400000">
            <a:off x="4560369" y="3481630"/>
            <a:ext cx="2606639" cy="4498793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21561CDC-75AB-451C-ABE4-B714745BC414}"/>
              </a:ext>
            </a:extLst>
          </p:cNvPr>
          <p:cNvCxnSpPr>
            <a:stCxn id="9" idx="2"/>
            <a:endCxn id="23" idx="0"/>
          </p:cNvCxnSpPr>
          <p:nvPr/>
        </p:nvCxnSpPr>
        <p:spPr>
          <a:xfrm rot="16200000" flipH="1">
            <a:off x="7479495" y="5061294"/>
            <a:ext cx="2430294" cy="1163118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曲线 33">
            <a:extLst>
              <a:ext uri="{FF2B5EF4-FFF2-40B4-BE49-F238E27FC236}">
                <a16:creationId xmlns:a16="http://schemas.microsoft.com/office/drawing/2014/main" id="{CACCEFCB-1399-33B5-B354-FA2B4AF0E9C5}"/>
              </a:ext>
            </a:extLst>
          </p:cNvPr>
          <p:cNvCxnSpPr>
            <a:stCxn id="10" idx="2"/>
            <a:endCxn id="22" idx="0"/>
          </p:cNvCxnSpPr>
          <p:nvPr/>
        </p:nvCxnSpPr>
        <p:spPr>
          <a:xfrm rot="5400000">
            <a:off x="6331813" y="1693008"/>
            <a:ext cx="2623817" cy="8058859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DB9A6071-2437-77C0-4772-37D1BEFE40BF}"/>
              </a:ext>
            </a:extLst>
          </p:cNvPr>
          <p:cNvCxnSpPr>
            <a:stCxn id="10" idx="2"/>
            <a:endCxn id="23" idx="0"/>
          </p:cNvCxnSpPr>
          <p:nvPr/>
        </p:nvCxnSpPr>
        <p:spPr>
          <a:xfrm rot="5400000">
            <a:off x="9250939" y="4435790"/>
            <a:ext cx="2447472" cy="2396948"/>
          </a:xfrm>
          <a:prstGeom prst="curvedConnector3">
            <a:avLst>
              <a:gd name="adj1" fmla="val 50000"/>
            </a:avLst>
          </a:prstGeom>
          <a:ln w="28575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468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780EEC3-AFD0-D549-F6CB-E5FF891A9C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41" b="20243"/>
          <a:stretch>
            <a:fillRect/>
          </a:stretch>
        </p:blipFill>
        <p:spPr>
          <a:xfrm>
            <a:off x="-1286586" y="1093399"/>
            <a:ext cx="6952493" cy="3583069"/>
          </a:xfrm>
          <a:prstGeom prst="rect">
            <a:avLst/>
          </a:prstGeom>
          <a:effectLst>
            <a:softEdge rad="165100"/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6B33B3A-F0B5-2A71-3AF7-6818368C39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789" t="5751" b="5595"/>
          <a:stretch>
            <a:fillRect/>
          </a:stretch>
        </p:blipFill>
        <p:spPr>
          <a:xfrm>
            <a:off x="8885688" y="-4066341"/>
            <a:ext cx="2141947" cy="1382658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269CF72-C1E5-E9CB-3306-455B8515CF97}"/>
              </a:ext>
            </a:extLst>
          </p:cNvPr>
          <p:cNvSpPr/>
          <p:nvPr/>
        </p:nvSpPr>
        <p:spPr>
          <a:xfrm>
            <a:off x="-6715913" y="-3870719"/>
            <a:ext cx="3825141" cy="3375124"/>
          </a:xfrm>
          <a:prstGeom prst="roundRect">
            <a:avLst/>
          </a:prstGeom>
          <a:solidFill>
            <a:srgbClr val="D7E2C4"/>
          </a:solidFill>
          <a:ln>
            <a:solidFill>
              <a:srgbClr val="D7E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F39DE4C-0837-3CFA-64CD-7CD76784D205}"/>
              </a:ext>
            </a:extLst>
          </p:cNvPr>
          <p:cNvSpPr/>
          <p:nvPr/>
        </p:nvSpPr>
        <p:spPr>
          <a:xfrm>
            <a:off x="-2043045" y="-4290182"/>
            <a:ext cx="17193477" cy="4208176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AA454DE-6B38-A627-1780-FB0A8B886C71}"/>
              </a:ext>
            </a:extLst>
          </p:cNvPr>
          <p:cNvSpPr/>
          <p:nvPr/>
        </p:nvSpPr>
        <p:spPr>
          <a:xfrm>
            <a:off x="-6680716" y="1382959"/>
            <a:ext cx="3825141" cy="3375124"/>
          </a:xfrm>
          <a:prstGeom prst="roundRect">
            <a:avLst/>
          </a:prstGeom>
          <a:solidFill>
            <a:srgbClr val="D7E2C4"/>
          </a:solidFill>
          <a:ln>
            <a:solidFill>
              <a:srgbClr val="D7E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8927BD9-5D69-24C3-72D3-FAAA5D7DB63E}"/>
              </a:ext>
            </a:extLst>
          </p:cNvPr>
          <p:cNvSpPr/>
          <p:nvPr/>
        </p:nvSpPr>
        <p:spPr>
          <a:xfrm>
            <a:off x="-2033767" y="659674"/>
            <a:ext cx="17193477" cy="5124602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CC5A8F4-68D5-AC1A-7F18-D2DD7CED09AC}"/>
              </a:ext>
            </a:extLst>
          </p:cNvPr>
          <p:cNvSpPr/>
          <p:nvPr/>
        </p:nvSpPr>
        <p:spPr>
          <a:xfrm>
            <a:off x="-6699941" y="7742282"/>
            <a:ext cx="3825141" cy="3375124"/>
          </a:xfrm>
          <a:prstGeom prst="roundRect">
            <a:avLst/>
          </a:prstGeom>
          <a:solidFill>
            <a:srgbClr val="D7E2C4"/>
          </a:solidFill>
          <a:ln>
            <a:solidFill>
              <a:srgbClr val="D7E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60C9686-614C-236E-5286-AB857C39C3CE}"/>
              </a:ext>
            </a:extLst>
          </p:cNvPr>
          <p:cNvSpPr/>
          <p:nvPr/>
        </p:nvSpPr>
        <p:spPr>
          <a:xfrm>
            <a:off x="-2043047" y="6503552"/>
            <a:ext cx="17193477" cy="6127046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5736F5-C154-6DAB-7606-943EB7FC730A}"/>
              </a:ext>
            </a:extLst>
          </p:cNvPr>
          <p:cNvGrpSpPr/>
          <p:nvPr/>
        </p:nvGrpSpPr>
        <p:grpSpPr>
          <a:xfrm>
            <a:off x="6710781" y="1017307"/>
            <a:ext cx="4657049" cy="4273115"/>
            <a:chOff x="7075841" y="6501324"/>
            <a:chExt cx="4642418" cy="425969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4CA071D-9825-BBDD-AB62-D08FD5A394C6}"/>
                </a:ext>
              </a:extLst>
            </p:cNvPr>
            <p:cNvSpPr/>
            <p:nvPr/>
          </p:nvSpPr>
          <p:spPr>
            <a:xfrm>
              <a:off x="7075842" y="6501324"/>
              <a:ext cx="4642417" cy="4248896"/>
            </a:xfrm>
            <a:prstGeom prst="round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970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2F11E9E-6A9E-7CF2-11D9-623B0146D018}"/>
                </a:ext>
              </a:extLst>
            </p:cNvPr>
            <p:cNvSpPr/>
            <p:nvPr/>
          </p:nvSpPr>
          <p:spPr>
            <a:xfrm>
              <a:off x="7075841" y="9992979"/>
              <a:ext cx="4642417" cy="768035"/>
            </a:xfrm>
            <a:prstGeom prst="roundRect">
              <a:avLst>
                <a:gd name="adj" fmla="val 36876"/>
              </a:avLst>
            </a:prstGeom>
            <a:solidFill>
              <a:srgbClr val="DAD8D9"/>
            </a:solidFill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970" dirty="0"/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254C3664-63C5-C7E8-F986-EC0F42812D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8924" r="43573"/>
          <a:stretch>
            <a:fillRect/>
          </a:stretch>
        </p:blipFill>
        <p:spPr>
          <a:xfrm>
            <a:off x="-1384591" y="-3777927"/>
            <a:ext cx="3910354" cy="2368776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5648FE2-828C-684F-6CB0-A3BAAFB15BD1}"/>
              </a:ext>
            </a:extLst>
          </p:cNvPr>
          <p:cNvSpPr/>
          <p:nvPr/>
        </p:nvSpPr>
        <p:spPr>
          <a:xfrm>
            <a:off x="-1646623" y="-4059952"/>
            <a:ext cx="9431055" cy="3688797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F0ED58A-4C1A-8838-2A52-30557E13D683}"/>
              </a:ext>
            </a:extLst>
          </p:cNvPr>
          <p:cNvSpPr/>
          <p:nvPr/>
        </p:nvSpPr>
        <p:spPr>
          <a:xfrm>
            <a:off x="-1646625" y="-1120001"/>
            <a:ext cx="9431055" cy="757292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3CACC0E-99C5-523B-C0B0-324E4CA38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7636" y="-3885978"/>
            <a:ext cx="2365667" cy="236566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5E50D1D-8406-7801-00C5-178C430EA8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725" y="-3694876"/>
            <a:ext cx="1905000" cy="1905000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728C3F5-6A8F-340B-ED18-3FFEC3EC31DB}"/>
              </a:ext>
            </a:extLst>
          </p:cNvPr>
          <p:cNvSpPr/>
          <p:nvPr/>
        </p:nvSpPr>
        <p:spPr>
          <a:xfrm>
            <a:off x="3560665" y="7033450"/>
            <a:ext cx="6004615" cy="3695806"/>
          </a:xfrm>
          <a:prstGeom prst="roundRect">
            <a:avLst/>
          </a:prstGeom>
          <a:solidFill>
            <a:srgbClr val="FEE8DB"/>
          </a:solidFill>
          <a:ln w="19050">
            <a:solidFill>
              <a:srgbClr val="F7CECC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90303" pitchFamily="18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BF89714-95BA-C6D1-0B39-F78C0801AD81}"/>
              </a:ext>
            </a:extLst>
          </p:cNvPr>
          <p:cNvSpPr/>
          <p:nvPr/>
        </p:nvSpPr>
        <p:spPr>
          <a:xfrm>
            <a:off x="-1166118" y="7024249"/>
            <a:ext cx="4180974" cy="3695806"/>
          </a:xfrm>
          <a:prstGeom prst="roundRect">
            <a:avLst/>
          </a:prstGeom>
          <a:solidFill>
            <a:srgbClr val="FFEBB2"/>
          </a:solidFill>
          <a:ln w="19050">
            <a:solidFill>
              <a:srgbClr val="FFE38E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90303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3B0745D-43BF-766E-8E9F-9D653708AECC}"/>
              </a:ext>
            </a:extLst>
          </p:cNvPr>
          <p:cNvSpPr txBox="1"/>
          <p:nvPr/>
        </p:nvSpPr>
        <p:spPr>
          <a:xfrm>
            <a:off x="-1077972" y="9543720"/>
            <a:ext cx="3997167" cy="516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Protection Method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FDACA14-A105-2B89-9206-943D4D68C84D}"/>
              </a:ext>
            </a:extLst>
          </p:cNvPr>
          <p:cNvSpPr txBox="1"/>
          <p:nvPr/>
        </p:nvSpPr>
        <p:spPr>
          <a:xfrm>
            <a:off x="6446450" y="10340011"/>
            <a:ext cx="2690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Landmark Age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225D136-AA69-2F1C-6731-3A4963E8FF1D}"/>
              </a:ext>
            </a:extLst>
          </p:cNvPr>
          <p:cNvSpPr txBox="1"/>
          <p:nvPr/>
        </p:nvSpPr>
        <p:spPr>
          <a:xfrm>
            <a:off x="3500827" y="10354787"/>
            <a:ext cx="3487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Number of Visitors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F0FC803-37F9-C420-9937-2E098AA529B9}"/>
              </a:ext>
            </a:extLst>
          </p:cNvPr>
          <p:cNvSpPr txBox="1"/>
          <p:nvPr/>
        </p:nvSpPr>
        <p:spPr>
          <a:xfrm>
            <a:off x="3713753" y="8831587"/>
            <a:ext cx="291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Protection Costs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C4C376E-0943-ECD3-3CE0-336BC3DBB98D}"/>
              </a:ext>
            </a:extLst>
          </p:cNvPr>
          <p:cNvSpPr txBox="1"/>
          <p:nvPr/>
        </p:nvSpPr>
        <p:spPr>
          <a:xfrm>
            <a:off x="6381908" y="8836859"/>
            <a:ext cx="26903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Landmark Size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1A6B24D-2D52-61C7-D65F-334170A6495E}"/>
              </a:ext>
            </a:extLst>
          </p:cNvPr>
          <p:cNvSpPr txBox="1"/>
          <p:nvPr/>
        </p:nvSpPr>
        <p:spPr>
          <a:xfrm>
            <a:off x="-550435" y="7098834"/>
            <a:ext cx="307619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accent4">
                    <a:lumMod val="75000"/>
                  </a:schemeClr>
                </a:solidFill>
                <a:latin typeface="Georgia" panose="02040502050405090303" pitchFamily="18" charset="0"/>
              </a:rPr>
              <a:t>Target Layer</a:t>
            </a:r>
            <a:endParaRPr lang="zh-CN" altLang="en-US" sz="3150" b="1" dirty="0">
              <a:solidFill>
                <a:schemeClr val="accent4">
                  <a:lumMod val="75000"/>
                </a:schemeClr>
              </a:solidFill>
              <a:latin typeface="Georgia" panose="02040502050405090303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AA0ADB4-0175-3115-3AE6-1072DABFC618}"/>
              </a:ext>
            </a:extLst>
          </p:cNvPr>
          <p:cNvSpPr txBox="1"/>
          <p:nvPr/>
        </p:nvSpPr>
        <p:spPr>
          <a:xfrm>
            <a:off x="4241910" y="7086876"/>
            <a:ext cx="44936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rgbClr val="BD6426"/>
                </a:solidFill>
                <a:latin typeface="Georgia" panose="02040502050405090303" pitchFamily="18" charset="0"/>
              </a:rPr>
              <a:t>Criteria Layer</a:t>
            </a:r>
            <a:endParaRPr lang="zh-CN" altLang="en-US" sz="3150" b="1" dirty="0">
              <a:solidFill>
                <a:srgbClr val="BD6426"/>
              </a:solidFill>
              <a:latin typeface="Georgia" panose="02040502050405090303" pitchFamily="18" charset="0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90A43DA5-0F35-0449-779B-5BE2B446C1B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5" r="5043"/>
          <a:stretch>
            <a:fillRect/>
          </a:stretch>
        </p:blipFill>
        <p:spPr>
          <a:xfrm>
            <a:off x="4739634" y="9520083"/>
            <a:ext cx="1001288" cy="92555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CD1C8B93-86F4-B744-2520-86FC36062E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71" y="8122154"/>
            <a:ext cx="1275638" cy="1275638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64AB1E28-DAAD-B1F1-6ED9-EF44300459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786" y="7816985"/>
            <a:ext cx="1059701" cy="1059701"/>
          </a:xfrm>
          <a:prstGeom prst="rect">
            <a:avLst/>
          </a:prstGeom>
        </p:spPr>
      </p:pic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C59D974-61D7-8A59-3247-DC00336E428E}"/>
              </a:ext>
            </a:extLst>
          </p:cNvPr>
          <p:cNvSpPr/>
          <p:nvPr/>
        </p:nvSpPr>
        <p:spPr>
          <a:xfrm>
            <a:off x="10049122" y="7033450"/>
            <a:ext cx="4469037" cy="3686605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90B767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55" dirty="0">
              <a:solidFill>
                <a:schemeClr val="tx1"/>
              </a:solidFill>
              <a:latin typeface="Georgia" panose="02040502050405090303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0243B2A-AF80-E1FE-1D2F-5642BA69BFC6}"/>
              </a:ext>
            </a:extLst>
          </p:cNvPr>
          <p:cNvSpPr txBox="1"/>
          <p:nvPr/>
        </p:nvSpPr>
        <p:spPr>
          <a:xfrm>
            <a:off x="11562217" y="7896345"/>
            <a:ext cx="3337176" cy="940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On-Site</a:t>
            </a:r>
          </a:p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Protection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2864EC0-6B65-2803-0D62-BECB851D495F}"/>
              </a:ext>
            </a:extLst>
          </p:cNvPr>
          <p:cNvSpPr txBox="1"/>
          <p:nvPr/>
        </p:nvSpPr>
        <p:spPr>
          <a:xfrm>
            <a:off x="12166922" y="9429844"/>
            <a:ext cx="2127766" cy="940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Relocation</a:t>
            </a:r>
          </a:p>
          <a:p>
            <a:pPr algn="ctr"/>
            <a:r>
              <a:rPr lang="en-US" altLang="zh-CN" sz="2755" dirty="0">
                <a:latin typeface="Georgia" panose="02040502050405090303" pitchFamily="18" charset="0"/>
              </a:rPr>
              <a:t>Protection</a:t>
            </a:r>
            <a:endParaRPr lang="zh-CN" altLang="en-US" sz="2755" dirty="0">
              <a:latin typeface="Georgia" panose="02040502050405090303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EE8C016-3AED-3362-B213-13CE4071C4CE}"/>
              </a:ext>
            </a:extLst>
          </p:cNvPr>
          <p:cNvSpPr txBox="1"/>
          <p:nvPr/>
        </p:nvSpPr>
        <p:spPr>
          <a:xfrm>
            <a:off x="10174305" y="7108036"/>
            <a:ext cx="422423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accent6">
                    <a:lumMod val="75000"/>
                  </a:schemeClr>
                </a:solidFill>
                <a:latin typeface="Georgia" panose="02040502050405090303" pitchFamily="18" charset="0"/>
              </a:rPr>
              <a:t>Solution Layer</a:t>
            </a:r>
            <a:endParaRPr lang="zh-CN" altLang="en-US" sz="3150" b="1" dirty="0">
              <a:solidFill>
                <a:schemeClr val="accent6">
                  <a:lumMod val="75000"/>
                </a:schemeClr>
              </a:solidFill>
              <a:latin typeface="Georgia" panose="02040502050405090303" pitchFamily="18" charset="0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FD14B89F-648E-A104-3EEE-B6CD89767DA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766" y="7879433"/>
            <a:ext cx="957426" cy="957426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7DEB0433-74B7-0D76-9D52-A9B99B6A62F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900" y="9383760"/>
            <a:ext cx="940514" cy="940514"/>
          </a:xfrm>
          <a:prstGeom prst="rect">
            <a:avLst/>
          </a:prstGeom>
        </p:spPr>
      </p:pic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4469659-CA31-39BF-6088-23ABC5439915}"/>
              </a:ext>
            </a:extLst>
          </p:cNvPr>
          <p:cNvSpPr/>
          <p:nvPr/>
        </p:nvSpPr>
        <p:spPr>
          <a:xfrm>
            <a:off x="-1646626" y="6779172"/>
            <a:ext cx="16595478" cy="4852600"/>
          </a:xfrm>
          <a:prstGeom prst="roundRect">
            <a:avLst>
              <a:gd name="adj" fmla="val 16472"/>
            </a:avLst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39" name="矩形: 圆顶角 38">
            <a:extLst>
              <a:ext uri="{FF2B5EF4-FFF2-40B4-BE49-F238E27FC236}">
                <a16:creationId xmlns:a16="http://schemas.microsoft.com/office/drawing/2014/main" id="{B5CA25B2-B77B-E1FA-8801-3AC8CD3947A7}"/>
              </a:ext>
            </a:extLst>
          </p:cNvPr>
          <p:cNvSpPr/>
          <p:nvPr/>
        </p:nvSpPr>
        <p:spPr>
          <a:xfrm>
            <a:off x="-1646626" y="10883370"/>
            <a:ext cx="16595478" cy="757292"/>
          </a:xfrm>
          <a:prstGeom prst="round2SameRect">
            <a:avLst>
              <a:gd name="adj1" fmla="val 16667"/>
              <a:gd name="adj2" fmla="val 50000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47C577D-E4CD-2F75-A21A-3D6F4EE689D6}"/>
              </a:ext>
            </a:extLst>
          </p:cNvPr>
          <p:cNvSpPr txBox="1"/>
          <p:nvPr/>
        </p:nvSpPr>
        <p:spPr>
          <a:xfrm>
            <a:off x="4400044" y="10922938"/>
            <a:ext cx="44936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AHP MODEL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1511B3EB-2728-8F90-F062-A001326D1718}"/>
              </a:ext>
            </a:extLst>
          </p:cNvPr>
          <p:cNvCxnSpPr>
            <a:stCxn id="32" idx="2"/>
            <a:endCxn id="42" idx="3"/>
          </p:cNvCxnSpPr>
          <p:nvPr/>
        </p:nvCxnSpPr>
        <p:spPr>
          <a:xfrm rot="5400000">
            <a:off x="10710886" y="10553984"/>
            <a:ext cx="1406685" cy="1738826"/>
          </a:xfrm>
          <a:prstGeom prst="bentConnector2">
            <a:avLst/>
          </a:prstGeom>
          <a:ln w="76200">
            <a:solidFill>
              <a:srgbClr val="547D1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584E378C-C0B7-5ECA-B0A1-8C1E1DC31469}"/>
              </a:ext>
            </a:extLst>
          </p:cNvPr>
          <p:cNvSpPr/>
          <p:nvPr/>
        </p:nvSpPr>
        <p:spPr>
          <a:xfrm>
            <a:off x="2748900" y="11813743"/>
            <a:ext cx="7795915" cy="625994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622B9C7-E5F3-EF05-657A-9C2637F56D1E}"/>
              </a:ext>
            </a:extLst>
          </p:cNvPr>
          <p:cNvSpPr txBox="1"/>
          <p:nvPr/>
        </p:nvSpPr>
        <p:spPr>
          <a:xfrm>
            <a:off x="3299803" y="11858052"/>
            <a:ext cx="699716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Linear Programming Model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F7110C0E-F701-3EDF-8AB0-D876F1C72365}"/>
              </a:ext>
            </a:extLst>
          </p:cNvPr>
          <p:cNvCxnSpPr>
            <a:stCxn id="42" idx="1"/>
            <a:endCxn id="21" idx="2"/>
          </p:cNvCxnSpPr>
          <p:nvPr/>
        </p:nvCxnSpPr>
        <p:spPr>
          <a:xfrm rot="10800000">
            <a:off x="924370" y="10720056"/>
            <a:ext cx="1824531" cy="1406685"/>
          </a:xfrm>
          <a:prstGeom prst="bentConnector2">
            <a:avLst/>
          </a:prstGeom>
          <a:ln w="762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EE7AF888-A496-F47E-6914-EBE1E23C5F95}"/>
              </a:ext>
            </a:extLst>
          </p:cNvPr>
          <p:cNvCxnSpPr>
            <a:stCxn id="30" idx="3"/>
            <a:endCxn id="52" idx="1"/>
          </p:cNvCxnSpPr>
          <p:nvPr/>
        </p:nvCxnSpPr>
        <p:spPr>
          <a:xfrm flipV="1">
            <a:off x="1551109" y="8396677"/>
            <a:ext cx="3241093" cy="363296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D4959583-623C-3C3E-ABDE-C4831539325A}"/>
              </a:ext>
            </a:extLst>
          </p:cNvPr>
          <p:cNvCxnSpPr>
            <a:stCxn id="30" idx="3"/>
            <a:endCxn id="29" idx="1"/>
          </p:cNvCxnSpPr>
          <p:nvPr/>
        </p:nvCxnSpPr>
        <p:spPr>
          <a:xfrm>
            <a:off x="1551109" y="8759973"/>
            <a:ext cx="3188525" cy="1222889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曲线 46">
            <a:extLst>
              <a:ext uri="{FF2B5EF4-FFF2-40B4-BE49-F238E27FC236}">
                <a16:creationId xmlns:a16="http://schemas.microsoft.com/office/drawing/2014/main" id="{6D7EA3B1-36FC-7C01-2678-86E386EAD7CB}"/>
              </a:ext>
            </a:extLst>
          </p:cNvPr>
          <p:cNvCxnSpPr>
            <a:stCxn id="31" idx="3"/>
            <a:endCxn id="37" idx="1"/>
          </p:cNvCxnSpPr>
          <p:nvPr/>
        </p:nvCxnSpPr>
        <p:spPr>
          <a:xfrm>
            <a:off x="8321487" y="8346836"/>
            <a:ext cx="2459413" cy="1507181"/>
          </a:xfrm>
          <a:prstGeom prst="curvedConnector3">
            <a:avLst>
              <a:gd name="adj1" fmla="val 58219"/>
            </a:avLst>
          </a:prstGeom>
          <a:ln w="57150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7B7F4A89-7497-C7BA-7354-F81D92163FA9}"/>
              </a:ext>
            </a:extLst>
          </p:cNvPr>
          <p:cNvCxnSpPr>
            <a:stCxn id="31" idx="3"/>
            <a:endCxn id="36" idx="1"/>
          </p:cNvCxnSpPr>
          <p:nvPr/>
        </p:nvCxnSpPr>
        <p:spPr>
          <a:xfrm>
            <a:off x="8321487" y="8346836"/>
            <a:ext cx="2366279" cy="11310"/>
          </a:xfrm>
          <a:prstGeom prst="curvedConnector3">
            <a:avLst>
              <a:gd name="adj1" fmla="val 50000"/>
            </a:avLst>
          </a:prstGeom>
          <a:ln w="57150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曲线 48">
            <a:extLst>
              <a:ext uri="{FF2B5EF4-FFF2-40B4-BE49-F238E27FC236}">
                <a16:creationId xmlns:a16="http://schemas.microsoft.com/office/drawing/2014/main" id="{825AB4A8-8A38-7946-5983-57CE73055C69}"/>
              </a:ext>
            </a:extLst>
          </p:cNvPr>
          <p:cNvCxnSpPr>
            <a:endCxn id="36" idx="1"/>
          </p:cNvCxnSpPr>
          <p:nvPr/>
        </p:nvCxnSpPr>
        <p:spPr>
          <a:xfrm flipV="1">
            <a:off x="8323199" y="8358146"/>
            <a:ext cx="2364567" cy="1524723"/>
          </a:xfrm>
          <a:prstGeom prst="curvedConnector3">
            <a:avLst>
              <a:gd name="adj1" fmla="val 60584"/>
            </a:avLst>
          </a:prstGeom>
          <a:ln w="57150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A592BEA8-CF06-B688-92DD-C6971A9FFF0F}"/>
              </a:ext>
            </a:extLst>
          </p:cNvPr>
          <p:cNvCxnSpPr>
            <a:endCxn id="37" idx="1"/>
          </p:cNvCxnSpPr>
          <p:nvPr/>
        </p:nvCxnSpPr>
        <p:spPr>
          <a:xfrm flipV="1">
            <a:off x="8321487" y="9854017"/>
            <a:ext cx="2459413" cy="11217"/>
          </a:xfrm>
          <a:prstGeom prst="curvedConnector3">
            <a:avLst>
              <a:gd name="adj1" fmla="val 50000"/>
            </a:avLst>
          </a:prstGeom>
          <a:ln w="57150">
            <a:solidFill>
              <a:schemeClr val="bg1">
                <a:lumMod val="85000"/>
              </a:schemeClr>
            </a:solidFill>
            <a:prstDash val="sysDash"/>
            <a:bevel/>
            <a:headEnd w="lg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图片 50">
            <a:extLst>
              <a:ext uri="{FF2B5EF4-FFF2-40B4-BE49-F238E27FC236}">
                <a16:creationId xmlns:a16="http://schemas.microsoft.com/office/drawing/2014/main" id="{0830CF1B-F758-0559-B203-049D85CFD0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030" y="9484717"/>
            <a:ext cx="898348" cy="898348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E3232EF0-4A8D-29FC-150C-F80DD06EBA0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202" y="7980800"/>
            <a:ext cx="831753" cy="831753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61E5AF83-FD29-77BE-BC24-FB6197778494}"/>
              </a:ext>
            </a:extLst>
          </p:cNvPr>
          <p:cNvSpPr txBox="1"/>
          <p:nvPr/>
        </p:nvSpPr>
        <p:spPr>
          <a:xfrm>
            <a:off x="-487957" y="-1014453"/>
            <a:ext cx="731922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Data Collection And Analysis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1E65017-0820-A2EA-2A4B-96C4217C86D3}"/>
              </a:ext>
            </a:extLst>
          </p:cNvPr>
          <p:cNvSpPr txBox="1"/>
          <p:nvPr/>
        </p:nvSpPr>
        <p:spPr>
          <a:xfrm>
            <a:off x="-558852" y="-1535444"/>
            <a:ext cx="291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Extreme Weather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1AA77A1-A2F9-0B79-5536-1DD315E6E20D}"/>
              </a:ext>
            </a:extLst>
          </p:cNvPr>
          <p:cNvSpPr txBox="1"/>
          <p:nvPr/>
        </p:nvSpPr>
        <p:spPr>
          <a:xfrm>
            <a:off x="2250015" y="-1557956"/>
            <a:ext cx="291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Weather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2DA4886-0D29-54F7-1DC4-73B434ECCC6B}"/>
              </a:ext>
            </a:extLst>
          </p:cNvPr>
          <p:cNvSpPr txBox="1"/>
          <p:nvPr/>
        </p:nvSpPr>
        <p:spPr>
          <a:xfrm>
            <a:off x="4898487" y="-1557956"/>
            <a:ext cx="291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eorgia" panose="02040502050405090303" pitchFamily="18" charset="0"/>
              </a:rPr>
              <a:t>Insurance</a:t>
            </a:r>
            <a:endParaRPr lang="zh-CN" altLang="en-US" dirty="0">
              <a:latin typeface="Georgia" panose="02040502050405090303" pitchFamily="18" charset="0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80FF1B4B-C204-D49D-A757-A6B0ABA7EFE2}"/>
              </a:ext>
            </a:extLst>
          </p:cNvPr>
          <p:cNvSpPr/>
          <p:nvPr/>
        </p:nvSpPr>
        <p:spPr>
          <a:xfrm>
            <a:off x="8467824" y="-4084349"/>
            <a:ext cx="2862232" cy="3688797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B85438A2-7676-452E-517D-F0FCDCE8612E}"/>
              </a:ext>
            </a:extLst>
          </p:cNvPr>
          <p:cNvSpPr/>
          <p:nvPr/>
        </p:nvSpPr>
        <p:spPr>
          <a:xfrm>
            <a:off x="12078689" y="-4046793"/>
            <a:ext cx="2820706" cy="3688797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4A33A271-B4FD-18EC-4EAF-D8167C683886}"/>
              </a:ext>
            </a:extLst>
          </p:cNvPr>
          <p:cNvSpPr/>
          <p:nvPr/>
        </p:nvSpPr>
        <p:spPr>
          <a:xfrm>
            <a:off x="12078687" y="-1120001"/>
            <a:ext cx="2820706" cy="770451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60" name="箭头: 右 59">
            <a:extLst>
              <a:ext uri="{FF2B5EF4-FFF2-40B4-BE49-F238E27FC236}">
                <a16:creationId xmlns:a16="http://schemas.microsoft.com/office/drawing/2014/main" id="{07E2B819-2C9B-4459-AF3E-4ADB1F96D139}"/>
              </a:ext>
            </a:extLst>
          </p:cNvPr>
          <p:cNvSpPr/>
          <p:nvPr/>
        </p:nvSpPr>
        <p:spPr>
          <a:xfrm>
            <a:off x="7857337" y="-2622702"/>
            <a:ext cx="585890" cy="497592"/>
          </a:xfrm>
          <a:prstGeom prst="rightArrow">
            <a:avLst>
              <a:gd name="adj1" fmla="val 50000"/>
              <a:gd name="adj2" fmla="val 47448"/>
            </a:avLst>
          </a:prstGeom>
          <a:solidFill>
            <a:srgbClr val="DADADA"/>
          </a:solidFill>
          <a:ln w="38100"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箭头: 右 60">
            <a:extLst>
              <a:ext uri="{FF2B5EF4-FFF2-40B4-BE49-F238E27FC236}">
                <a16:creationId xmlns:a16="http://schemas.microsoft.com/office/drawing/2014/main" id="{DC079E70-7039-D492-BFC1-48469EE55433}"/>
              </a:ext>
            </a:extLst>
          </p:cNvPr>
          <p:cNvSpPr/>
          <p:nvPr/>
        </p:nvSpPr>
        <p:spPr>
          <a:xfrm>
            <a:off x="11411426" y="-2618739"/>
            <a:ext cx="585890" cy="497592"/>
          </a:xfrm>
          <a:prstGeom prst="rightArrow">
            <a:avLst>
              <a:gd name="adj1" fmla="val 50000"/>
              <a:gd name="adj2" fmla="val 47448"/>
            </a:avLst>
          </a:prstGeom>
          <a:solidFill>
            <a:srgbClr val="DADADA"/>
          </a:solidFill>
          <a:ln w="38100"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0732363D-8A06-4A19-5F6E-60E4D668FB3A}"/>
              </a:ext>
            </a:extLst>
          </p:cNvPr>
          <p:cNvSpPr txBox="1"/>
          <p:nvPr/>
        </p:nvSpPr>
        <p:spPr>
          <a:xfrm>
            <a:off x="7043871" y="4627941"/>
            <a:ext cx="41465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Risk  Assessment</a:t>
            </a: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9EC79148-919E-F450-9FB7-C3F1006F9A53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34264" t="8575" r="4662" b="14433"/>
          <a:stretch>
            <a:fillRect/>
          </a:stretch>
        </p:blipFill>
        <p:spPr>
          <a:xfrm>
            <a:off x="8889794" y="-2586228"/>
            <a:ext cx="2055190" cy="1381070"/>
          </a:xfrm>
          <a:prstGeom prst="rect">
            <a:avLst/>
          </a:prstGeom>
        </p:spPr>
      </p:pic>
      <p:sp>
        <p:nvSpPr>
          <p:cNvPr id="64" name="矩形 63">
            <a:extLst>
              <a:ext uri="{FF2B5EF4-FFF2-40B4-BE49-F238E27FC236}">
                <a16:creationId xmlns:a16="http://schemas.microsoft.com/office/drawing/2014/main" id="{0E1A399E-3FE4-6085-0799-6C070ED624A3}"/>
              </a:ext>
            </a:extLst>
          </p:cNvPr>
          <p:cNvSpPr/>
          <p:nvPr/>
        </p:nvSpPr>
        <p:spPr>
          <a:xfrm>
            <a:off x="8807117" y="-4025272"/>
            <a:ext cx="2213672" cy="138265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1383CB8-D5F2-A7E4-2CF8-078CB7A01F9E}"/>
              </a:ext>
            </a:extLst>
          </p:cNvPr>
          <p:cNvSpPr/>
          <p:nvPr/>
        </p:nvSpPr>
        <p:spPr>
          <a:xfrm>
            <a:off x="8807117" y="-2587554"/>
            <a:ext cx="2213672" cy="138265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E575119C-EBFC-86F3-D617-43CA46DC0CA3}"/>
              </a:ext>
            </a:extLst>
          </p:cNvPr>
          <p:cNvSpPr/>
          <p:nvPr/>
        </p:nvSpPr>
        <p:spPr>
          <a:xfrm>
            <a:off x="8467822" y="-1106894"/>
            <a:ext cx="2862232" cy="757292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3BDEA12-AB6B-E7DF-3851-C18CC7A71857}"/>
              </a:ext>
            </a:extLst>
          </p:cNvPr>
          <p:cNvSpPr txBox="1"/>
          <p:nvPr/>
        </p:nvSpPr>
        <p:spPr>
          <a:xfrm>
            <a:off x="7626393" y="-1027501"/>
            <a:ext cx="44936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ARIMA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pic>
        <p:nvPicPr>
          <p:cNvPr id="68" name="图片 67">
            <a:extLst>
              <a:ext uri="{FF2B5EF4-FFF2-40B4-BE49-F238E27FC236}">
                <a16:creationId xmlns:a16="http://schemas.microsoft.com/office/drawing/2014/main" id="{6A642CE3-21C4-5E23-6720-654EEEEF62E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77020" y="990817"/>
            <a:ext cx="3359117" cy="3446263"/>
          </a:xfrm>
          <a:prstGeom prst="rect">
            <a:avLst/>
          </a:prstGeom>
        </p:spPr>
      </p:pic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754F9D58-0846-6AEE-60E9-C69071E755B8}"/>
              </a:ext>
            </a:extLst>
          </p:cNvPr>
          <p:cNvSpPr/>
          <p:nvPr/>
        </p:nvSpPr>
        <p:spPr>
          <a:xfrm>
            <a:off x="-1551544" y="1008497"/>
            <a:ext cx="7482410" cy="4262287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70" name="矩形: 圆顶角 69">
            <a:extLst>
              <a:ext uri="{FF2B5EF4-FFF2-40B4-BE49-F238E27FC236}">
                <a16:creationId xmlns:a16="http://schemas.microsoft.com/office/drawing/2014/main" id="{C2319AD4-F97F-88DC-6114-C3FD25F4C85F}"/>
              </a:ext>
            </a:extLst>
          </p:cNvPr>
          <p:cNvSpPr/>
          <p:nvPr/>
        </p:nvSpPr>
        <p:spPr>
          <a:xfrm>
            <a:off x="-1551544" y="4550275"/>
            <a:ext cx="7482410" cy="757292"/>
          </a:xfrm>
          <a:prstGeom prst="round2SameRect">
            <a:avLst>
              <a:gd name="adj1" fmla="val 16667"/>
              <a:gd name="adj2" fmla="val 50000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D747F648-3AE2-FAF4-867E-3FBB36D07B11}"/>
              </a:ext>
            </a:extLst>
          </p:cNvPr>
          <p:cNvSpPr/>
          <p:nvPr/>
        </p:nvSpPr>
        <p:spPr>
          <a:xfrm>
            <a:off x="12087970" y="1030076"/>
            <a:ext cx="2820706" cy="4236741"/>
          </a:xfrm>
          <a:prstGeom prst="round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E149BDBB-414F-8581-6019-BEE466B95A1D}"/>
              </a:ext>
            </a:extLst>
          </p:cNvPr>
          <p:cNvSpPr/>
          <p:nvPr/>
        </p:nvSpPr>
        <p:spPr>
          <a:xfrm>
            <a:off x="12087968" y="4533130"/>
            <a:ext cx="2820706" cy="757292"/>
          </a:xfrm>
          <a:prstGeom prst="roundRect">
            <a:avLst>
              <a:gd name="adj" fmla="val 36876"/>
            </a:avLst>
          </a:prstGeom>
          <a:solidFill>
            <a:srgbClr val="DAD8D9"/>
          </a:solidFill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97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371C2E1D-33A5-9744-D712-CCDA2D946C05}"/>
              </a:ext>
            </a:extLst>
          </p:cNvPr>
          <p:cNvSpPr txBox="1"/>
          <p:nvPr/>
        </p:nvSpPr>
        <p:spPr>
          <a:xfrm>
            <a:off x="-1469952" y="4625823"/>
            <a:ext cx="731922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Risk Index Analysis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sp>
        <p:nvSpPr>
          <p:cNvPr id="74" name="箭头: 右 73">
            <a:extLst>
              <a:ext uri="{FF2B5EF4-FFF2-40B4-BE49-F238E27FC236}">
                <a16:creationId xmlns:a16="http://schemas.microsoft.com/office/drawing/2014/main" id="{02A605D9-6658-CEEA-7C92-C31F89DA6069}"/>
              </a:ext>
            </a:extLst>
          </p:cNvPr>
          <p:cNvSpPr/>
          <p:nvPr/>
        </p:nvSpPr>
        <p:spPr>
          <a:xfrm>
            <a:off x="6048033" y="2899650"/>
            <a:ext cx="585890" cy="497592"/>
          </a:xfrm>
          <a:prstGeom prst="rightArrow">
            <a:avLst>
              <a:gd name="adj1" fmla="val 50000"/>
              <a:gd name="adj2" fmla="val 47448"/>
            </a:avLst>
          </a:prstGeom>
          <a:solidFill>
            <a:srgbClr val="DADADA"/>
          </a:solidFill>
          <a:ln w="38100"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箭头: 右 74">
            <a:extLst>
              <a:ext uri="{FF2B5EF4-FFF2-40B4-BE49-F238E27FC236}">
                <a16:creationId xmlns:a16="http://schemas.microsoft.com/office/drawing/2014/main" id="{498BED16-85B2-3F9A-68E7-91B77D738FCC}"/>
              </a:ext>
            </a:extLst>
          </p:cNvPr>
          <p:cNvSpPr/>
          <p:nvPr/>
        </p:nvSpPr>
        <p:spPr>
          <a:xfrm>
            <a:off x="11489491" y="2983032"/>
            <a:ext cx="585890" cy="497592"/>
          </a:xfrm>
          <a:prstGeom prst="rightArrow">
            <a:avLst>
              <a:gd name="adj1" fmla="val 50000"/>
              <a:gd name="adj2" fmla="val 47448"/>
            </a:avLst>
          </a:prstGeom>
          <a:solidFill>
            <a:srgbClr val="DADADA"/>
          </a:solidFill>
          <a:ln w="38100">
            <a:solidFill>
              <a:srgbClr val="1F1F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F3D452F-9F68-42F0-F726-6CE09551F0BB}"/>
              </a:ext>
            </a:extLst>
          </p:cNvPr>
          <p:cNvSpPr txBox="1"/>
          <p:nvPr/>
        </p:nvSpPr>
        <p:spPr>
          <a:xfrm>
            <a:off x="12174686" y="4609708"/>
            <a:ext cx="270145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GLM Model</a:t>
            </a:r>
          </a:p>
        </p:txBody>
      </p:sp>
      <p:pic>
        <p:nvPicPr>
          <p:cNvPr id="77" name="图片 76">
            <a:extLst>
              <a:ext uri="{FF2B5EF4-FFF2-40B4-BE49-F238E27FC236}">
                <a16:creationId xmlns:a16="http://schemas.microsoft.com/office/drawing/2014/main" id="{DF072C72-89C3-F67C-37BE-AC56CD96A00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2264" y="1313362"/>
            <a:ext cx="1233551" cy="1233551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380D51FF-AE1C-0183-BDF9-1CD94BF9606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4276" y="2834862"/>
            <a:ext cx="1401776" cy="1401776"/>
          </a:xfrm>
          <a:prstGeom prst="rect">
            <a:avLst/>
          </a:prstGeom>
        </p:spPr>
      </p:pic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9EE858F5-A373-17C9-40E4-F3B010A1BF8C}"/>
              </a:ext>
            </a:extLst>
          </p:cNvPr>
          <p:cNvCxnSpPr>
            <a:stCxn id="59" idx="2"/>
            <a:endCxn id="69" idx="0"/>
          </p:cNvCxnSpPr>
          <p:nvPr/>
        </p:nvCxnSpPr>
        <p:spPr>
          <a:xfrm rot="5400000">
            <a:off x="7160328" y="-5320216"/>
            <a:ext cx="1358047" cy="11299379"/>
          </a:xfrm>
          <a:prstGeom prst="bentConnector3">
            <a:avLst/>
          </a:prstGeom>
          <a:ln w="76200">
            <a:solidFill>
              <a:srgbClr val="D3B3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图片 79">
            <a:extLst>
              <a:ext uri="{FF2B5EF4-FFF2-40B4-BE49-F238E27FC236}">
                <a16:creationId xmlns:a16="http://schemas.microsoft.com/office/drawing/2014/main" id="{5FF99AF3-B9EA-5268-E7AF-C0D82ADB67B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67001" y="-3468607"/>
            <a:ext cx="1597707" cy="1452461"/>
          </a:xfrm>
          <a:prstGeom prst="rect">
            <a:avLst/>
          </a:prstGeom>
        </p:spPr>
      </p:pic>
      <p:sp>
        <p:nvSpPr>
          <p:cNvPr id="81" name="文本框 80">
            <a:extLst>
              <a:ext uri="{FF2B5EF4-FFF2-40B4-BE49-F238E27FC236}">
                <a16:creationId xmlns:a16="http://schemas.microsoft.com/office/drawing/2014/main" id="{4A9566F1-A257-006D-8E17-7D879CE9720A}"/>
              </a:ext>
            </a:extLst>
          </p:cNvPr>
          <p:cNvSpPr txBox="1"/>
          <p:nvPr/>
        </p:nvSpPr>
        <p:spPr>
          <a:xfrm>
            <a:off x="-6915459" y="-1736073"/>
            <a:ext cx="418608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Insurance Company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65BE7CD7-89BA-1D4D-AB92-98AED246C133}"/>
              </a:ext>
            </a:extLst>
          </p:cNvPr>
          <p:cNvSpPr txBox="1"/>
          <p:nvPr/>
        </p:nvSpPr>
        <p:spPr>
          <a:xfrm>
            <a:off x="-6212761" y="3614639"/>
            <a:ext cx="2889229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Real-estate Company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C109B2E1-7FB7-6D28-F2F7-8B5C18E134F1}"/>
              </a:ext>
            </a:extLst>
          </p:cNvPr>
          <p:cNvSpPr txBox="1"/>
          <p:nvPr/>
        </p:nvSpPr>
        <p:spPr>
          <a:xfrm>
            <a:off x="-6193564" y="10157100"/>
            <a:ext cx="288922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Community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A1C78EBE-BC04-60A4-17B2-97800FF5E9A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79275" y="8456294"/>
            <a:ext cx="1995595" cy="1489250"/>
          </a:xfrm>
          <a:prstGeom prst="rect">
            <a:avLst/>
          </a:prstGeom>
        </p:spPr>
      </p:pic>
      <p:pic>
        <p:nvPicPr>
          <p:cNvPr id="85" name="Picture 16" descr="Lennar Announces On-Site Opening of Welcome Home Center at Arden, South ...">
            <a:extLst>
              <a:ext uri="{FF2B5EF4-FFF2-40B4-BE49-F238E27FC236}">
                <a16:creationId xmlns:a16="http://schemas.microsoft.com/office/drawing/2014/main" id="{D0D3127B-484C-3ECE-1A3B-9F32D981A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859840" y="1492012"/>
            <a:ext cx="4332929" cy="2685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E8441F32-EC37-2382-223B-61D84AE8F3D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053" y="-3537304"/>
            <a:ext cx="2046463" cy="2046463"/>
          </a:xfrm>
          <a:prstGeom prst="rect">
            <a:avLst/>
          </a:prstGeom>
        </p:spPr>
      </p:pic>
      <p:sp>
        <p:nvSpPr>
          <p:cNvPr id="87" name="文本框 86">
            <a:extLst>
              <a:ext uri="{FF2B5EF4-FFF2-40B4-BE49-F238E27FC236}">
                <a16:creationId xmlns:a16="http://schemas.microsoft.com/office/drawing/2014/main" id="{DD86E7C5-9150-7926-2311-564353AA86C7}"/>
              </a:ext>
            </a:extLst>
          </p:cNvPr>
          <p:cNvSpPr txBox="1"/>
          <p:nvPr/>
        </p:nvSpPr>
        <p:spPr>
          <a:xfrm>
            <a:off x="13182219" y="-3448609"/>
            <a:ext cx="58589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solidFill>
                  <a:schemeClr val="bg1"/>
                </a:solidFill>
                <a:latin typeface="Georgia" panose="02040502050405090303" pitchFamily="18" charset="0"/>
              </a:rPr>
              <a:t>1</a:t>
            </a:r>
            <a:endParaRPr lang="zh-CN" altLang="en-US" sz="3150" b="1" dirty="0">
              <a:solidFill>
                <a:schemeClr val="bg1"/>
              </a:solidFill>
              <a:latin typeface="Georgia" panose="02040502050405090303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3D061402-4D20-8C30-17E3-2DB542EC956F}"/>
              </a:ext>
            </a:extLst>
          </p:cNvPr>
          <p:cNvSpPr txBox="1"/>
          <p:nvPr/>
        </p:nvSpPr>
        <p:spPr>
          <a:xfrm>
            <a:off x="13196094" y="-2917913"/>
            <a:ext cx="585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Georgia" panose="02040502050405090303" pitchFamily="18" charset="0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Georgia" panose="02040502050405090303" pitchFamily="18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A47AE0B7-CF3E-47FE-854E-127238810EE5}"/>
              </a:ext>
            </a:extLst>
          </p:cNvPr>
          <p:cNvSpPr txBox="1"/>
          <p:nvPr/>
        </p:nvSpPr>
        <p:spPr>
          <a:xfrm>
            <a:off x="13196094" y="-2442795"/>
            <a:ext cx="585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Georgia" panose="02040502050405090303" pitchFamily="18" charset="0"/>
              </a:rPr>
              <a:t>3</a:t>
            </a:r>
            <a:endParaRPr lang="zh-CN" altLang="en-US" sz="2400" b="1" dirty="0">
              <a:solidFill>
                <a:schemeClr val="bg1"/>
              </a:solidFill>
              <a:latin typeface="Georgia" panose="02040502050405090303" pitchFamily="18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BE9E9ED-B09A-C534-9673-296A88135AC6}"/>
              </a:ext>
            </a:extLst>
          </p:cNvPr>
          <p:cNvSpPr txBox="1"/>
          <p:nvPr/>
        </p:nvSpPr>
        <p:spPr>
          <a:xfrm>
            <a:off x="13196094" y="-1969863"/>
            <a:ext cx="585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Georgia" panose="02040502050405090303" pitchFamily="18" charset="0"/>
              </a:rPr>
              <a:t>4</a:t>
            </a:r>
            <a:endParaRPr lang="zh-CN" altLang="en-US" sz="2400" b="1" dirty="0">
              <a:solidFill>
                <a:schemeClr val="bg1"/>
              </a:solidFill>
              <a:latin typeface="Georgia" panose="02040502050405090303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AEFAF489-8A94-F126-8207-431268E96EC7}"/>
              </a:ext>
            </a:extLst>
          </p:cNvPr>
          <p:cNvSpPr txBox="1"/>
          <p:nvPr/>
        </p:nvSpPr>
        <p:spPr>
          <a:xfrm>
            <a:off x="12231059" y="-1027501"/>
            <a:ext cx="258870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150" b="1" dirty="0">
                <a:latin typeface="Georgia" panose="02040502050405090303" pitchFamily="18" charset="0"/>
              </a:rPr>
              <a:t>Evaluation</a:t>
            </a:r>
            <a:endParaRPr lang="zh-CN" altLang="en-US" sz="3150" b="1" dirty="0">
              <a:latin typeface="Georgia" panose="0204050205040509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414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宽屏</PresentationFormat>
  <Paragraphs>40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Georgia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铧纬 樊</dc:creator>
  <cp:lastModifiedBy>铧纬 樊</cp:lastModifiedBy>
  <cp:revision>1</cp:revision>
  <dcterms:created xsi:type="dcterms:W3CDTF">2025-09-09T14:45:30Z</dcterms:created>
  <dcterms:modified xsi:type="dcterms:W3CDTF">2025-09-09T14:46:02Z</dcterms:modified>
</cp:coreProperties>
</file>